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1480" autoAdjust="0"/>
  </p:normalViewPr>
  <p:slideViewPr>
    <p:cSldViewPr snapToGrid="0">
      <p:cViewPr varScale="1">
        <p:scale>
          <a:sx n="55" d="100"/>
          <a:sy n="55" d="100"/>
        </p:scale>
        <p:origin x="28" y="64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 dirty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tudio.google.com/u/0/reporting/3cad7e05-d234-4467-a3d9-f34f0cb4ae28/page/cj2vF/edit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Learner Name: NORDIN MESAUD KHLOUFI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Date: 21/04/2026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 dirty="0"/>
              <a:t>OUTLINE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EXECUTIVE SUMMARY</a:t>
            </a:r>
          </a:p>
          <a:p>
            <a:r>
              <a:rPr lang="en-US" sz="2400" b="1" dirty="0"/>
              <a:t>Key Finding:</a:t>
            </a:r>
            <a:r>
              <a:rPr lang="en-US" sz="2400" dirty="0"/>
              <a:t> There is a significant gap between the most demanded languages and the highest-paying ones.</a:t>
            </a:r>
          </a:p>
          <a:p>
            <a:r>
              <a:rPr lang="en-US" sz="2400" b="1" dirty="0"/>
              <a:t>Current Leader:</a:t>
            </a:r>
            <a:r>
              <a:rPr lang="en-US" sz="2400" dirty="0"/>
              <a:t> Python remains the most versatile and demanded tool in the current job market.</a:t>
            </a:r>
          </a:p>
          <a:p>
            <a:r>
              <a:rPr lang="en-US" sz="2400" b="1" dirty="0"/>
              <a:t>Future Shift:</a:t>
            </a:r>
            <a:r>
              <a:rPr lang="en-US" sz="2400" dirty="0"/>
              <a:t> Growing transition towards NoSQL databases and Cloud-integrated environments.</a:t>
            </a:r>
          </a:p>
          <a:p>
            <a:r>
              <a:rPr lang="en-US" sz="2400" b="1" dirty="0"/>
              <a:t>Strategy:</a:t>
            </a:r>
            <a:r>
              <a:rPr lang="en-US" sz="2400" dirty="0"/>
              <a:t> Professionals should focus on a "T-shaped" skill set: broad general knowledge with deep expertise in one niche.</a:t>
            </a:r>
          </a:p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INTRODUCTION</a:t>
            </a:r>
          </a:p>
          <a:p>
            <a:r>
              <a:rPr lang="en-US" sz="2400" b="1" dirty="0"/>
              <a:t>Purpose:</a:t>
            </a:r>
            <a:r>
              <a:rPr lang="en-US" sz="2400" dirty="0"/>
              <a:t> To analyze real-world data to identify which technical skills provide the best career opportunities.</a:t>
            </a:r>
          </a:p>
          <a:p>
            <a:r>
              <a:rPr lang="en-US" sz="2400" b="1" dirty="0"/>
              <a:t>Target Audience:</a:t>
            </a:r>
            <a:r>
              <a:rPr lang="en-US" sz="2400" dirty="0"/>
              <a:t> IT Recruiters, Career Counselors, and aspiring Data Analysts.</a:t>
            </a:r>
          </a:p>
          <a:p>
            <a:r>
              <a:rPr lang="en-US" sz="2400" b="1" dirty="0"/>
              <a:t>Value:</a:t>
            </a:r>
            <a:r>
              <a:rPr lang="en-US" sz="2400" dirty="0"/>
              <a:t> Provides data-driven insights to optimize learning paths and recruitment strategies.</a:t>
            </a:r>
          </a:p>
          <a:p>
            <a:pPr lvl="1"/>
            <a:endParaRPr lang="en-US" sz="18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METHODOLOGY</a:t>
            </a:r>
          </a:p>
          <a:p>
            <a:r>
              <a:rPr lang="es-ES" b="1" dirty="0"/>
              <a:t>Data </a:t>
            </a:r>
            <a:r>
              <a:rPr lang="es-ES" b="1" dirty="0" err="1"/>
              <a:t>Collection</a:t>
            </a:r>
            <a:r>
              <a:rPr lang="es-ES" b="1" dirty="0"/>
              <a:t>:</a:t>
            </a:r>
            <a:endParaRPr lang="es-ES" dirty="0"/>
          </a:p>
          <a:p>
            <a:pPr lvl="1"/>
            <a:r>
              <a:rPr lang="es-ES" dirty="0" err="1"/>
              <a:t>Accessed</a:t>
            </a:r>
            <a:r>
              <a:rPr lang="es-ES" dirty="0"/>
              <a:t> </a:t>
            </a:r>
            <a:r>
              <a:rPr lang="es-ES" dirty="0" err="1"/>
              <a:t>job</a:t>
            </a:r>
            <a:r>
              <a:rPr lang="es-ES" dirty="0"/>
              <a:t> </a:t>
            </a:r>
            <a:r>
              <a:rPr lang="es-ES" dirty="0" err="1"/>
              <a:t>posting</a:t>
            </a:r>
            <a:r>
              <a:rPr lang="es-ES" dirty="0"/>
              <a:t> data </a:t>
            </a:r>
            <a:r>
              <a:rPr lang="es-ES" dirty="0" err="1"/>
              <a:t>via</a:t>
            </a:r>
            <a:r>
              <a:rPr lang="es-ES" dirty="0"/>
              <a:t> API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identify</a:t>
            </a:r>
            <a:r>
              <a:rPr lang="es-ES" dirty="0"/>
              <a:t> </a:t>
            </a:r>
            <a:r>
              <a:rPr lang="es-ES" dirty="0" err="1"/>
              <a:t>volume</a:t>
            </a:r>
            <a:r>
              <a:rPr lang="es-ES" dirty="0"/>
              <a:t>.</a:t>
            </a:r>
          </a:p>
          <a:p>
            <a:pPr lvl="1"/>
            <a:r>
              <a:rPr lang="es-ES" dirty="0" err="1"/>
              <a:t>Performed</a:t>
            </a:r>
            <a:r>
              <a:rPr lang="es-ES" dirty="0"/>
              <a:t> Web </a:t>
            </a:r>
            <a:r>
              <a:rPr lang="es-ES" dirty="0" err="1"/>
              <a:t>Scraping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GitHub/</a:t>
            </a:r>
            <a:r>
              <a:rPr lang="es-ES" dirty="0" err="1"/>
              <a:t>StackOverflow</a:t>
            </a:r>
            <a:r>
              <a:rPr lang="es-ES" dirty="0"/>
              <a:t> data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salary</a:t>
            </a:r>
            <a:r>
              <a:rPr lang="es-ES" dirty="0"/>
              <a:t> </a:t>
            </a:r>
            <a:r>
              <a:rPr lang="es-ES" dirty="0" err="1"/>
              <a:t>trends</a:t>
            </a:r>
            <a:r>
              <a:rPr lang="es-ES" dirty="0"/>
              <a:t>.</a:t>
            </a:r>
          </a:p>
          <a:p>
            <a:r>
              <a:rPr lang="es-ES" b="1" dirty="0"/>
              <a:t>Data </a:t>
            </a:r>
            <a:r>
              <a:rPr lang="es-ES" b="1" dirty="0" err="1"/>
              <a:t>Wrangling</a:t>
            </a:r>
            <a:r>
              <a:rPr lang="es-ES" b="1" dirty="0"/>
              <a:t>:</a:t>
            </a:r>
            <a:endParaRPr lang="es-ES" dirty="0"/>
          </a:p>
          <a:p>
            <a:pPr lvl="1"/>
            <a:r>
              <a:rPr lang="es-ES" dirty="0" err="1"/>
              <a:t>Cleaned</a:t>
            </a:r>
            <a:r>
              <a:rPr lang="es-ES" dirty="0"/>
              <a:t> "job-postings.xlsx" and "popular-languages.csv" </a:t>
            </a:r>
            <a:r>
              <a:rPr lang="es-ES" dirty="0" err="1"/>
              <a:t>using</a:t>
            </a:r>
            <a:r>
              <a:rPr lang="es-ES" dirty="0"/>
              <a:t> Python (Pandas).</a:t>
            </a:r>
          </a:p>
          <a:p>
            <a:pPr lvl="1"/>
            <a:r>
              <a:rPr lang="es-ES" dirty="0" err="1"/>
              <a:t>Handled</a:t>
            </a:r>
            <a:r>
              <a:rPr lang="es-ES" dirty="0"/>
              <a:t> </a:t>
            </a:r>
            <a:r>
              <a:rPr lang="es-ES" dirty="0" err="1"/>
              <a:t>missing</a:t>
            </a:r>
            <a:r>
              <a:rPr lang="es-ES" dirty="0"/>
              <a:t> </a:t>
            </a:r>
            <a:r>
              <a:rPr lang="es-ES" dirty="0" err="1"/>
              <a:t>values</a:t>
            </a:r>
            <a:r>
              <a:rPr lang="es-ES" dirty="0"/>
              <a:t> and </a:t>
            </a:r>
            <a:r>
              <a:rPr lang="es-ES" dirty="0" err="1"/>
              <a:t>standardized</a:t>
            </a:r>
            <a:r>
              <a:rPr lang="es-ES" dirty="0"/>
              <a:t> </a:t>
            </a:r>
            <a:r>
              <a:rPr lang="es-ES" dirty="0" err="1"/>
              <a:t>technology</a:t>
            </a:r>
            <a:r>
              <a:rPr lang="es-ES" dirty="0"/>
              <a:t> </a:t>
            </a:r>
            <a:r>
              <a:rPr lang="es-ES" dirty="0" err="1"/>
              <a:t>names</a:t>
            </a:r>
            <a:r>
              <a:rPr lang="es-ES" dirty="0"/>
              <a:t> (</a:t>
            </a:r>
            <a:r>
              <a:rPr lang="es-ES" dirty="0" err="1"/>
              <a:t>e.g</a:t>
            </a:r>
            <a:r>
              <a:rPr lang="es-ES" dirty="0"/>
              <a:t>., "PostgreSQL" vs "</a:t>
            </a:r>
            <a:r>
              <a:rPr lang="es-ES" dirty="0" err="1"/>
              <a:t>Postgres</a:t>
            </a:r>
            <a:r>
              <a:rPr lang="es-ES" dirty="0"/>
              <a:t>").</a:t>
            </a:r>
          </a:p>
          <a:p>
            <a:pPr lvl="1"/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A0C2064-406B-6AE3-739F-7B2830F70306}"/>
              </a:ext>
            </a:extLst>
          </p:cNvPr>
          <p:cNvSpPr txBox="1"/>
          <p:nvPr/>
        </p:nvSpPr>
        <p:spPr>
          <a:xfrm>
            <a:off x="3854369" y="1489768"/>
            <a:ext cx="60419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Results: Visual Insights</a:t>
            </a:r>
          </a:p>
          <a:p>
            <a:pPr>
              <a:buNone/>
            </a:pPr>
            <a:r>
              <a:rPr lang="en-US" dirty="0"/>
              <a:t>This section summarizes the data processed through our analysis pipeline, focusing on market demand and compensation.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Visualization – Charts: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Job Postings by Location:</a:t>
            </a:r>
            <a:r>
              <a:rPr lang="en-US" dirty="0"/>
              <a:t> Bar charts showing demand distribution, sorted descendingly.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Salary Comparison:</a:t>
            </a:r>
            <a:r>
              <a:rPr lang="en-US" dirty="0"/>
              <a:t> Ranking of programming languages based on average annual earnings.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Top 10 Rankings:</a:t>
            </a:r>
            <a:r>
              <a:rPr lang="en-US" dirty="0"/>
              <a:t> Identification of the highest-paying technologies for the upcoming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Dashboard: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Integrated View:</a:t>
            </a:r>
            <a:r>
              <a:rPr lang="en-US" dirty="0"/>
              <a:t> A consolidated dashboard combining job availability and salary trends.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Data-Driven Logic:</a:t>
            </a:r>
            <a:r>
              <a:rPr lang="en-US" dirty="0"/>
              <a:t> Transformation of raw API and scraped data into actionable career insights.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2DD23D-290B-D068-EB35-D8D9FF0A4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78" y="1708613"/>
            <a:ext cx="6597989" cy="35143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2652DAD-3EFD-09D5-3A0A-EBF99C3C6A43}"/>
              </a:ext>
            </a:extLst>
          </p:cNvPr>
          <p:cNvSpPr txBox="1"/>
          <p:nvPr/>
        </p:nvSpPr>
        <p:spPr>
          <a:xfrm rot="10800000" flipV="1">
            <a:off x="6849567" y="1868219"/>
            <a:ext cx="4815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collected via Job API, processed with Pandas, and visualized using Matplotlib.</a:t>
            </a:r>
            <a:endParaRPr lang="es-E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838" y="0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6273478" y="3576577"/>
            <a:ext cx="5280669" cy="1593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16283E-FC7A-4BC4-AD25-11FCF0D33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53" y="1781090"/>
            <a:ext cx="6248721" cy="329581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41E577E-4160-BE74-7C64-2B6E12E74800}"/>
              </a:ext>
            </a:extLst>
          </p:cNvPr>
          <p:cNvSpPr txBox="1"/>
          <p:nvPr/>
        </p:nvSpPr>
        <p:spPr>
          <a:xfrm>
            <a:off x="6886574" y="1795398"/>
            <a:ext cx="50353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chart represents salary data collected through web scraping. The data was cleaned and processed using Python (Pandas/</a:t>
            </a:r>
            <a:r>
              <a:rPr lang="en-US" dirty="0" err="1"/>
              <a:t>BeautifulSoup</a:t>
            </a:r>
            <a:r>
              <a:rPr lang="en-US" dirty="0"/>
              <a:t>) and visualized in descending order to highlight the most lucrative programming languages in the current job market.</a:t>
            </a:r>
            <a:endParaRPr lang="es-E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05" y="206317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3170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45473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924305" y="1475244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7595E4-CB77-A45B-E639-2513E4958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27" y="2517883"/>
            <a:ext cx="4968868" cy="286487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5062167-9BCE-0F3F-DB00-BC52358A8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400" y="2470843"/>
            <a:ext cx="5574295" cy="28648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rot="10800000" flipV="1">
            <a:off x="1055737" y="1753101"/>
            <a:ext cx="2241901" cy="871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C3EE617-3132-8AA8-5616-67F5FCAA0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2" y="2829811"/>
            <a:ext cx="456042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Leaders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and Java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consistently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among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highest-paying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Clusters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Job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availability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concentrated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hubs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 York and San Francisco.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Proficiency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specialized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MongoDB and SQL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correlates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premium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CFAD24D-B257-0F01-91B0-A49FED0E5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491" y="2829811"/>
            <a:ext cx="49539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Targeted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Upskilling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Professionals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mastering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 10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maximize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their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earning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Relocation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mobility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factor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postings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Alignment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Curriculum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career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API data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competitive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2065128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5127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13816" y="275893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695286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881252" y="1476527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330FEE8-E9DE-D0F8-BF6C-5BED34D63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95" y="2694003"/>
            <a:ext cx="4362674" cy="299100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EE206A0-8C8B-0E3A-B8FD-92FB3DFC8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765" y="2700747"/>
            <a:ext cx="5448580" cy="27687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933718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 err="1">
                <a:solidFill>
                  <a:schemeClr val="tx1"/>
                </a:solidFill>
                <a:latin typeface="Arial" panose="020B0604020202020204" pitchFamily="34" charset="0"/>
              </a:rPr>
              <a:t>Finding</a:t>
            </a:r>
            <a:r>
              <a:rPr lang="es-ES" altLang="es-ES" b="1" dirty="0">
                <a:solidFill>
                  <a:schemeClr val="tx1"/>
                </a:solidFill>
                <a:latin typeface="Arial" panose="020B0604020202020204" pitchFamily="34" charset="0"/>
              </a:rPr>
              <a:t> 1: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Young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adult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dominance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 err="1">
                <a:solidFill>
                  <a:schemeClr val="tx1"/>
                </a:solidFill>
                <a:latin typeface="Arial" panose="020B0604020202020204" pitchFamily="34" charset="0"/>
              </a:rPr>
              <a:t>Finding</a:t>
            </a:r>
            <a:r>
              <a:rPr lang="es-ES" altLang="es-ES" b="1" dirty="0">
                <a:solidFill>
                  <a:schemeClr val="tx1"/>
                </a:solidFill>
                <a:latin typeface="Arial" panose="020B0604020202020204" pitchFamily="34" charset="0"/>
              </a:rPr>
              <a:t> 2: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Steady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annual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aging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 err="1">
                <a:solidFill>
                  <a:schemeClr val="tx1"/>
                </a:solidFill>
                <a:latin typeface="Arial" panose="020B0604020202020204" pitchFamily="34" charset="0"/>
              </a:rPr>
              <a:t>Finding</a:t>
            </a:r>
            <a:r>
              <a:rPr lang="es-ES" altLang="es-ES" b="1" dirty="0">
                <a:solidFill>
                  <a:schemeClr val="tx1"/>
                </a:solidFill>
                <a:latin typeface="Arial" panose="020B0604020202020204" pitchFamily="34" charset="0"/>
              </a:rPr>
              <a:t> 3: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Skewed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age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distribution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 err="1">
                <a:solidFill>
                  <a:schemeClr val="tx1"/>
                </a:solidFill>
                <a:latin typeface="Arial" panose="020B0604020202020204" pitchFamily="34" charset="0"/>
              </a:rPr>
              <a:t>Implication</a:t>
            </a:r>
            <a:r>
              <a:rPr lang="es-ES" altLang="es-ES" b="1" dirty="0">
                <a:solidFill>
                  <a:schemeClr val="tx1"/>
                </a:solidFill>
                <a:latin typeface="Arial" panose="020B0604020202020204" pitchFamily="34" charset="0"/>
              </a:rPr>
              <a:t> 1: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Target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youth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marketing.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 err="1">
                <a:solidFill>
                  <a:schemeClr val="tx1"/>
                </a:solidFill>
                <a:latin typeface="Arial" panose="020B0604020202020204" pitchFamily="34" charset="0"/>
              </a:rPr>
              <a:t>Implication</a:t>
            </a:r>
            <a:r>
              <a:rPr lang="es-ES" altLang="es-ES" b="1" dirty="0">
                <a:solidFill>
                  <a:schemeClr val="tx1"/>
                </a:solidFill>
                <a:latin typeface="Arial" panose="020B0604020202020204" pitchFamily="34" charset="0"/>
              </a:rPr>
              <a:t> 2: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Long-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term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retention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focus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 err="1">
                <a:solidFill>
                  <a:schemeClr val="tx1"/>
                </a:solidFill>
                <a:latin typeface="Arial" panose="020B0604020202020204" pitchFamily="34" charset="0"/>
              </a:rPr>
              <a:t>Implication</a:t>
            </a:r>
            <a:r>
              <a:rPr lang="es-ES" altLang="es-ES" b="1" dirty="0">
                <a:solidFill>
                  <a:schemeClr val="tx1"/>
                </a:solidFill>
                <a:latin typeface="Arial" panose="020B0604020202020204" pitchFamily="34" charset="0"/>
              </a:rPr>
              <a:t> 3: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Need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for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user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acquisition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00CEBDD-752D-A2F1-3172-B9846C890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5" y="-76573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ADB3751-CF1E-0630-A6FE-D46DC47EF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hlinkClick r:id="rId3"/>
              </a:rPr>
              <a:t>https://datastudio.google.com/u/0/reporting/3cad7e05-d234-4467-a3d9-f34f0cb4ae28/page/cj2vF/edit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-16995282"/>
            <a:ext cx="100430639" cy="2303730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1 goes here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BE22F82-DB38-C41F-897D-6D94F89D73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670367"/>
            <a:ext cx="2911033" cy="291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1A65FF1-1E6B-8C08-4791-FB8D9BC68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903" y="1564871"/>
            <a:ext cx="7696682" cy="44771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227D578-7924-1947-F15E-AA8464F5F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776" y="1690688"/>
            <a:ext cx="7804448" cy="42488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FB762A-E34E-85D6-171B-31360F11C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609" y="1605641"/>
            <a:ext cx="8388781" cy="45214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1155" y="1825625"/>
            <a:ext cx="6272645" cy="435133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Discussion: Performance Insights</a:t>
            </a:r>
          </a:p>
          <a:p>
            <a:r>
              <a:rPr lang="en-US" dirty="0"/>
              <a:t>The dashboard analysis reveals several key insights regarding our operational efficiency and user engagement.</a:t>
            </a:r>
          </a:p>
          <a:p>
            <a:r>
              <a:rPr lang="en-US" dirty="0"/>
              <a:t>First, the </a:t>
            </a:r>
            <a:r>
              <a:rPr lang="en-US" b="1" dirty="0"/>
              <a:t>engagement metrics</a:t>
            </a:r>
            <a:r>
              <a:rPr lang="en-US" dirty="0"/>
              <a:t> show a steady upward trend, particularly in the most recent quarter, suggesting that current content strategies are resonating well with our target audience. Second, the </a:t>
            </a:r>
            <a:r>
              <a:rPr lang="en-US" b="1" dirty="0"/>
              <a:t>distribution of traffic</a:t>
            </a:r>
            <a:r>
              <a:rPr lang="en-US" dirty="0"/>
              <a:t> indicates a heavy reliance on organic search, highlighting a strong SEO foundation but also suggesting an opportunity to diversify through paid or social channels to mitigate risk.</a:t>
            </a:r>
          </a:p>
          <a:p>
            <a:r>
              <a:rPr lang="en-US" dirty="0"/>
              <a:t>Furthermore, a deep dive into the </a:t>
            </a:r>
            <a:r>
              <a:rPr lang="en-US" b="1" dirty="0"/>
              <a:t>conversion rates</a:t>
            </a:r>
            <a:r>
              <a:rPr lang="en-US" dirty="0"/>
              <a:t> by region shows significant variance; while primary markets remain stable, emerging territories are showing a higher growth percentage, albeit from a smaller base.</a:t>
            </a:r>
          </a:p>
          <a:p>
            <a:r>
              <a:rPr lang="en-US" b="1" dirty="0"/>
              <a:t>Conclusion:</a:t>
            </a:r>
            <a:r>
              <a:rPr lang="en-US" dirty="0"/>
              <a:t> To maintain this momentum, we should focus on scaling the tactics used in high-growth regions while optimizing the landing pages that currently show the highest bounce rates. These data-driven adjustments will be crucial for hitting our end-of-year targets.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Findings</a:t>
            </a:r>
          </a:p>
          <a:p>
            <a:r>
              <a:rPr lang="en-US" b="1" dirty="0"/>
              <a:t>Mobile-First Audience:</a:t>
            </a:r>
            <a:r>
              <a:rPr lang="en-US" dirty="0"/>
              <a:t> More than 80% of total traffic originates from mobile devices, specifically Android and iOS users.</a:t>
            </a:r>
          </a:p>
          <a:p>
            <a:r>
              <a:rPr lang="en-US" b="1" dirty="0"/>
              <a:t>Search Dominance:</a:t>
            </a:r>
            <a:r>
              <a:rPr lang="en-US" dirty="0"/>
              <a:t> Organic search is the primary driver of new sessions, significantly outperforming social and direct channels.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Implications</a:t>
            </a:r>
          </a:p>
          <a:p>
            <a:r>
              <a:rPr lang="en-US" b="1" dirty="0"/>
              <a:t>UX Optimization:</a:t>
            </a:r>
            <a:r>
              <a:rPr lang="en-US" dirty="0"/>
              <a:t> We must prioritize mobile site speed and responsive design to reduce bounce rates for smartphone users.</a:t>
            </a:r>
          </a:p>
          <a:p>
            <a:r>
              <a:rPr lang="en-US" b="1" dirty="0"/>
              <a:t>SEO Investment:</a:t>
            </a:r>
            <a:r>
              <a:rPr lang="en-US" dirty="0"/>
              <a:t> Since organic search is our main growth engine, continuing to optimize for key search terms is critical for long-term sustainability.</a:t>
            </a:r>
          </a:p>
          <a:p>
            <a:r>
              <a:rPr lang="en-US" b="1" dirty="0"/>
              <a:t>Content Strategy:</a:t>
            </a:r>
            <a:r>
              <a:rPr lang="en-US" dirty="0"/>
              <a:t> There is a clear opportunity to improve engagement by tailoring content specifically for the mobile browsing experience.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B0A953-8B14-F2F2-1B66-A2A8183DA92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294207" y="1667940"/>
            <a:ext cx="760759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Dominance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vast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mobile-driven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confirming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digital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mobile-centric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satisfy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Organic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Organic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stands as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acquisition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channel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SEO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efforts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their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opportunity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page load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interface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refinements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directly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retention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conversion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Include any relevant additional charts, or tables that you may have created during the analysis phase.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1690</TotalTime>
  <Words>1015</Words>
  <Application>Microsoft Office PowerPoint</Application>
  <PresentationFormat>Panorámica</PresentationFormat>
  <Paragraphs>109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Title</vt:lpstr>
      <vt:lpstr>Presentación de PowerPoint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nordin mesaud khloufi</cp:lastModifiedBy>
  <cp:revision>8</cp:revision>
  <dcterms:created xsi:type="dcterms:W3CDTF">2024-10-30T05:40:03Z</dcterms:created>
  <dcterms:modified xsi:type="dcterms:W3CDTF">2026-04-22T21:21:51Z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